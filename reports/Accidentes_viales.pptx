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2428b72d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2428b72d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2428b72d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2428b72d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428b72d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428b72d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2428b72d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2428b72d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477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Análisis de Incidentes Viales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48"/>
            <a:ext cx="53613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1180"/>
              <a:t>Castro Lerma, Mario Alejandro</a:t>
            </a:r>
            <a:endParaRPr sz="11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1180"/>
              <a:t>Guerrero Espinoza, Miguel Angel</a:t>
            </a:r>
            <a:endParaRPr sz="11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1180"/>
              <a:t>Senday Bejarano, Oscar Daniel</a:t>
            </a:r>
            <a:endParaRPr sz="1180"/>
          </a:p>
        </p:txBody>
      </p:sp>
      <p:pic>
        <p:nvPicPr>
          <p:cNvPr id="130" name="Google Shape;130;p1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775" y="285800"/>
            <a:ext cx="1482375" cy="17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4" title="ATUS_AÑ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49" y="307025"/>
            <a:ext cx="5195875" cy="40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6069925" y="1363700"/>
            <a:ext cx="2675700" cy="2401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Se registró un alza del 59% en 2021, aunque hubo una ligera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reducción del 6% en 2024, el municipio se mantiene como el 4° con más incidentes a nivel nacional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5" title="ATUS_DIASEM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07" y="1365461"/>
            <a:ext cx="4059311" cy="318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title="ATUS_hora_di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0808" y="1365449"/>
            <a:ext cx="4059300" cy="318446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240600" y="272375"/>
            <a:ext cx="5642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De los 54,621 accidentes viales en el periodo de 7 años (2018-2024), </a:t>
            </a:r>
            <a:r>
              <a:rPr lang="es-419" sz="1800"/>
              <a:t>el </a:t>
            </a:r>
            <a:r>
              <a:rPr b="1" lang="es-419" sz="1800">
                <a:solidFill>
                  <a:srgbClr val="FF0000"/>
                </a:solidFill>
              </a:rPr>
              <a:t>99%</a:t>
            </a:r>
            <a:r>
              <a:rPr lang="es-419" sz="1800"/>
              <a:t> fue responsabilidad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del conductor. 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556575" y="4479475"/>
            <a:ext cx="42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P</a:t>
            </a:r>
            <a:r>
              <a:rPr lang="es-419" sz="1800"/>
              <a:t>unto crítico: viernes a las 14:00 horas.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title="indice_viern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49" y="471512"/>
            <a:ext cx="7126500" cy="40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6697800" y="1626400"/>
            <a:ext cx="1700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L</a:t>
            </a:r>
            <a:r>
              <a:rPr lang="es-419" sz="1800"/>
              <a:t>os </a:t>
            </a:r>
            <a:r>
              <a:rPr b="1" lang="es-419" sz="1800">
                <a:solidFill>
                  <a:srgbClr val="FF9900"/>
                </a:solidFill>
              </a:rPr>
              <a:t>viernes </a:t>
            </a:r>
            <a:r>
              <a:rPr lang="es-419" sz="1800"/>
              <a:t>revelan patrones vinculados al ciclo escolar y los inicios de mes.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title="ATUS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900" y="611900"/>
            <a:ext cx="7607325" cy="399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/>
          <p:nvPr/>
        </p:nvCxnSpPr>
        <p:spPr>
          <a:xfrm>
            <a:off x="426900" y="2432075"/>
            <a:ext cx="2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7"/>
          <p:cNvCxnSpPr/>
          <p:nvPr/>
        </p:nvCxnSpPr>
        <p:spPr>
          <a:xfrm flipH="1" rot="10800000">
            <a:off x="474950" y="4114450"/>
            <a:ext cx="2082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474950" y="1791150"/>
            <a:ext cx="2082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7"/>
          <p:cNvCxnSpPr/>
          <p:nvPr/>
        </p:nvCxnSpPr>
        <p:spPr>
          <a:xfrm flipH="1" rot="10800000">
            <a:off x="611900" y="957850"/>
            <a:ext cx="1842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7"/>
          <p:cNvCxnSpPr/>
          <p:nvPr/>
        </p:nvCxnSpPr>
        <p:spPr>
          <a:xfrm flipH="1">
            <a:off x="7469200" y="3497625"/>
            <a:ext cx="1602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